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0F172A"/>
                </a:solidFill>
                <a:latin typeface="Calibri"/>
              </a:rPr>
              <a:t>Sınıf Dağılımı (örnek)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Örnek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DDoS_UDP</c:v>
                </c:pt>
                <c:pt idx="1">
                  <c:v>DDoS_ICMP</c:v>
                </c:pt>
                <c:pt idx="2">
                  <c:v>Normal</c:v>
                </c:pt>
                <c:pt idx="3">
                  <c:v>Port Scan</c:v>
                </c:pt>
                <c:pt idx="4">
                  <c:v>MITM</c:v>
                </c:pt>
                <c:pt idx="5">
                  <c:v>XSS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42000</c:v>
                </c:pt>
                <c:pt idx="1">
                  <c:v>38500</c:v>
                </c:pt>
                <c:pt idx="2">
                  <c:v>24300</c:v>
                </c:pt>
                <c:pt idx="3">
                  <c:v>9800</c:v>
                </c:pt>
                <c:pt idx="4">
                  <c:v>5400</c:v>
                </c:pt>
                <c:pt idx="5">
                  <c:v>2100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F4-47B0-A815-0D62CDC00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 w="6350" cap="flat">
      <a:solidFill>
        <a:srgbClr val="CBD5E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53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VERİ ANALİZİNE GİRİŞ  •  DÖNEM PROJESİ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 Saldırısı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Tespiti</a:t>
            </a:r>
            <a:r>
              <a:rPr lang="en-US" sz="5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58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Pipeline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→  Spark Streaming  →  Delta Lake  →  ML  →  Dashboard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1520" y="530352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157K+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" y="5870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Satırı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17520" y="530352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017520" y="5870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Tipi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530352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303520" y="5870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9520" y="530352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589520" y="5870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B4769-8A09-457B-AC30-7E9305FE084D}"/>
              </a:ext>
            </a:extLst>
          </p:cNvPr>
          <p:cNvSpPr txBox="1"/>
          <p:nvPr/>
        </p:nvSpPr>
        <p:spPr>
          <a:xfrm>
            <a:off x="7239000" y="1371600"/>
            <a:ext cx="4699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00" b="1" kern="0" spc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220201018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Dülek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300" b="1" kern="0" spc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220201061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Eyüp Ensar Kara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300" b="1" kern="0" spc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220201083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Yunus Hanifi Öztürk</a:t>
            </a:r>
          </a:p>
        </p:txBody>
      </p:sp>
    </p:spTree>
    <p:extLst>
      <p:ext uri="{BB962C8B-B14F-4D97-AF65-F5344CB8AC3E}">
        <p14:creationId xmlns:p14="http://schemas.microsoft.com/office/powerpoint/2010/main" val="871984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tipleri &amp; veri seti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554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6092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Altyapısı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mikroservis orkestrasyonu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97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60020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veri akışı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697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697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36092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Delta Lake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mimarisi (Bronze→Silver→Gold)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840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160020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840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840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36092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türetilmiş özellik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983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074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16002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Modelleri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600200" y="5486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sınıflandırıcı + MLflow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4983480"/>
            <a:ext cx="54864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4983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5074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736092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360920" y="5486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sayfalı canlı arayüz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TANIMI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Tespit Ediyoruz?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Tehdit Manzarası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IoT/IIoT cihazlarının ağ trafiğinde </a:t>
            </a: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farklı saldırı tipi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tespit edilmelidir. Saldırı çeşitleri DDoS, MITM, Ransomware, SQL Injection, Port Scanning ve XSS gibi kritik tehditleri kapsar.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7607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42976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veri akışından ML modeline kadar uçtan uca bir büyük veri pipeline'ı kurmak ve saldırıları yüksek doğrulukla tespit etmek.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766560" y="1691640"/>
            <a:ext cx="4846320" cy="4160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8745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95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99516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Edge-IIoTset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9951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 •  Endüstriyel IoT trafiği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99516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~157.000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0525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99516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05256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95160" y="4937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05256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DOCKER ALTYAPISI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Mikroservis, Tek Komutla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koordinasyonu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6002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6002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24048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002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4048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JSON yayını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9718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355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Master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3776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29718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17520" y="29718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54680" y="3355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154680" y="3776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executor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29718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29718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355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Server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3776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takibi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3434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" y="5148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ortamı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17520" y="43434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017520" y="43434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5468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154680" y="5148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0" y="4343400"/>
            <a:ext cx="23317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4343400"/>
            <a:ext cx="2331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23560" y="5148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83880" y="1600200"/>
            <a:ext cx="352044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83080"/>
            <a:ext cx="502920" cy="50292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90068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</a:rPr>
              <a:t>TEK KOMUT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366760" y="2468880"/>
            <a:ext cx="315468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366760" y="2468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83667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Dockerfile'lar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366760" y="36118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Delta JAR + PySpark + MLflow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kafka-python entegrasyonu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Flask + Plotly + SSE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VERI AKIŞI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 Mimarisi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94360" y="244144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JSON dönüşümü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679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mesajlaştırılır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2186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Zenginleştirme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source_ip, attack_type, flow_id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399592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Ayarlanabilir hız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4233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--rate 100 parametresiyle akış kontrolü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47731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mekanizması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868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kopmasında 30 deneme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577840"/>
            <a:ext cx="58521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5778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554480" y="5577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iot-network-traffic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06240" y="55778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5577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858000" y="1691640"/>
            <a:ext cx="480060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2880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5895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</a:rPr>
              <a:t>MESAJ FORMATI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086600" y="2331720"/>
            <a:ext cx="4343400" cy="374904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69480" y="2468880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"2025-11-13T..."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"source_ip"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"192.168.0.14"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"attack_type"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"DDoS"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"tcp_srcport"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52341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"tcp_len"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1460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"flow_id"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"f-9b2c"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</a:t>
            </a: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(50+ alan)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SPARK STRUCTURED STREAMING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(3 Katman)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Veri, üç ardışık katmandan geçerek ham JSON'dan ML-hazır tabloya dönüşür.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749040" cy="3840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374904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3200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74720"/>
            <a:ext cx="73152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JSON saklama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akış kayıt altına alınır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73152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audit 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73152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/ ay / gün bazlı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2011680"/>
            <a:ext cx="3749040" cy="3840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2011680"/>
            <a:ext cx="37490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3200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7472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 + şema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Tipler standardize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425196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inf / dup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Anomaliler temizlenir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502920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kolon çıkarılır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Gereksiz alanlar atılır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12480" y="2011680"/>
            <a:ext cx="3749040" cy="3840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0" y="2011680"/>
            <a:ext cx="3749040" cy="4572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8686800" y="3291840"/>
            <a:ext cx="3200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3474720"/>
            <a:ext cx="73152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yeni özellik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6968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0" y="4251960"/>
            <a:ext cx="73152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kodlama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686800" y="5029200"/>
            <a:ext cx="73152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tablo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6968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Eğitime hazır veri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251960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183880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548640" y="6035040"/>
            <a:ext cx="11155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katmanlar Spark Structured Streaming ile  </a:t>
            </a: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trigger(processingTime="30 seconds")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aralığında güncellenir.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KEŞIFSEL VERI ANALIZI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ile İlk Tanışma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 Analizler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28600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dağılımı  •  15 saldırı tipi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78892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 analizi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29184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291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istatistikler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379476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ısı haritası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29768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97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trendi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800600"/>
            <a:ext cx="5394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80060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800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Saldırı karşılaştırması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Bulgular</a:t>
            </a:r>
            <a:endParaRPr lang="en-US" sz="20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400800" y="2286000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873752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20840" y="4800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DDoS_UDP ve DDoS_ICMP en yaygın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33095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0840" y="5257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kolonları: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Çoğunlukla 0 (beklenen davranış)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788152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20840" y="5715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alanları kritik: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Port, seq, ack en ayırt edici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Türetilmiş Özellik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55680" cy="2743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kern="0" spc="2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2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ÖZELLİK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2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2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SALDIRI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traffic_asymmetry_ratio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tcp_ack / (tcp_seq + 1)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Flood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pkt_size_cv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|len − payload| / (len + 1)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flow_intensity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 / (time + ε)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DDoS, Brute-Force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iat_regularity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std(IAT) / (mean + ε)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Botnet, MITM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conn_efficiency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payload / (len + 1)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57800"/>
            <a:ext cx="365760" cy="365760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123444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</a:rPr>
              <a:t>NEDEN BU 5 ÖZELLİK?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5532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farklı bir saldırı vektörünü hedefler. Normal trafiğin istatistiksel özelliklerinden sapmaları yakalayacak şekilde tasarlanmıştır. Tüm özellikler NaN/Inf kontrolü içerir.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MAKINE ÖĞRENMESI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Sınıflandırma Modeli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regParam, maxIter, elasticNet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691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Hızlı, yorumlanabilir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maxDepth, maxBins, minInfo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karar ağacı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numTrees, maxDepth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overfitting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numIter, maxDepth, stepSize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 aday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80160" y="4251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smoothing + MinMaxScaler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4251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baseline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69680" y="1691640"/>
            <a:ext cx="283464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28800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5097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EĞİTİM SETUP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052560" y="242316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5256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0525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opt.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052560" y="320040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525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0525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/ %20 train-test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052560" y="397764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05256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classWeight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0525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Dengesizlik çözümü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9052560" y="475488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52560" y="4892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9052560" y="5166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deneyler loglanır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modeller (Random Forest, GBT) saldırı tespitinde özellikle güçlüdür — dengesiz sınıflarla baş edebilir ve feature importance üretirler.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MAKINE ÖĞRENMESI (DEVAM)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&amp; MLflow Takibi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Metrikler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04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715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Sınıflar arası ayırt etme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233172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2404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0440" y="2715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doğruluk oranı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227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dengesi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37560" y="315468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0440" y="3227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20440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pozitif kontrolü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97764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0507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4361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yakalama oranı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37560" y="3977640"/>
            <a:ext cx="26517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0440" y="40507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520440" y="4361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I / Tip II hata analizi</a:t>
            </a:r>
            <a:endParaRPr lang="en-US" sz="1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9164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494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MLflow'a Loglanan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400800" y="2331720"/>
            <a:ext cx="5212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0" y="233172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2940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parametreler &amp; metrikler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400800" y="2788920"/>
            <a:ext cx="5212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00800" y="278892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629400" y="2788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model artifact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400800" y="3246120"/>
            <a:ext cx="5212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00800" y="324612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29400" y="32461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CSV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00800" y="3703320"/>
            <a:ext cx="5212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00800" y="370332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629400" y="3703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değerleri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400800" y="4160520"/>
            <a:ext cx="5212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400800" y="416052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629400" y="4160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tag'leri ve versiyon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48640" y="5074920"/>
            <a:ext cx="1115568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5074920"/>
            <a:ext cx="73152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57800"/>
            <a:ext cx="411480" cy="41148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280160" y="5212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59669"/>
                </a:solidFill>
              </a:rPr>
              <a:t>FEATURE ENGINEERING'İN SOMUT KATKISI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777240" y="5577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Türettiğimiz 5 özellik, modellerin feature importance sıralamasında üst sıralarda yer almıştır. Bu, manuel feature engineering çalışmasının ham veri üzerinde yarattığı katma değeri kanıtlar.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94183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Akışı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6916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•  kafka-python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2331720"/>
            <a:ext cx="94183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468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23317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3.x  •  PySpark MLlib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108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(Medallion Architecture)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7490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Takip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46320" y="3611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2.x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371600" y="4251960"/>
            <a:ext cx="94183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6596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846320" y="4251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•  Plotly  •  Matplotlib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371600" y="4892040"/>
            <a:ext cx="94183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4480" y="502920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846320" y="4892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Docker Compose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" y="566928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96596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846320" y="5532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Edge-IIoTset (Kaggle)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•  Büyük Veri Pipeline'ı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8" y="1371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0" y="5120640"/>
            <a:ext cx="393192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5212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MLflow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5120640"/>
            <a:ext cx="393192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212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513E5F-2CD6-4D3A-A054-1EE5B73CACDA}"/>
              </a:ext>
            </a:extLst>
          </p:cNvPr>
          <p:cNvSpPr txBox="1"/>
          <p:nvPr/>
        </p:nvSpPr>
        <p:spPr>
          <a:xfrm>
            <a:off x="457200" y="4597400"/>
            <a:ext cx="11277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F489AF-899E-4FF5-BD2A-13CC8C0576A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d1b77b6-394f-47de-8098-8b54a8c7e3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1040</Words>
  <Application>Microsoft Office PowerPoint</Application>
  <PresentationFormat>Widescreen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Ağ Saldırısı Tespiti</dc:title>
  <dc:subject>PptxGenJS Presentation</dc:subject>
  <dc:creator>Taylan</dc:creator>
  <cp:lastModifiedBy>Yunus hanifi Öztürk</cp:lastModifiedBy>
  <cp:revision>6</cp:revision>
  <dcterms:created xsi:type="dcterms:W3CDTF">2026-05-13T10:17:42Z</dcterms:created>
  <dcterms:modified xsi:type="dcterms:W3CDTF">2026-05-13T17:45:33Z</dcterms:modified>
</cp:coreProperties>
</file>