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0" r:id="rId12"/>
    <p:sldId id="271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3" d="100"/>
          <a:sy n="73" d="100"/>
        </p:scale>
        <p:origin x="96" y="29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F172A"/>
                </a:solidFill>
                <a:latin typeface="Calibri"/>
              </a:defRPr>
            </a:pPr>
            <a:r>
              <a:rPr lang="en-US" sz="1100" b="0" i="0" u="none" strike="noStrike">
                <a:solidFill>
                  <a:srgbClr val="0F172A"/>
                </a:solidFill>
                <a:latin typeface="Calibri"/>
              </a:rPr>
              <a:t>Sınıf Dağılımı (örnek)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Örnek</c:v>
                </c:pt>
              </c:strCache>
            </c:strRef>
          </c:tx>
          <c:spPr>
            <a:solidFill>
              <a:srgbClr val="0E7490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DDoS_UDP</c:v>
                </c:pt>
                <c:pt idx="1">
                  <c:v>DDoS_ICMP</c:v>
                </c:pt>
                <c:pt idx="2">
                  <c:v>Normal</c:v>
                </c:pt>
                <c:pt idx="3">
                  <c:v>Port Scan</c:v>
                </c:pt>
                <c:pt idx="4">
                  <c:v>MITM</c:v>
                </c:pt>
                <c:pt idx="5">
                  <c:v>XSS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42000</c:v>
                </c:pt>
                <c:pt idx="1">
                  <c:v>38500</c:v>
                </c:pt>
                <c:pt idx="2">
                  <c:v>24300</c:v>
                </c:pt>
                <c:pt idx="3">
                  <c:v>9800</c:v>
                </c:pt>
                <c:pt idx="4">
                  <c:v>5400</c:v>
                </c:pt>
                <c:pt idx="5">
                  <c:v>2100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5F4-47B0-A815-0D62CDC003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1F5F9"/>
    </a:solidFill>
    <a:ln w="6350" cap="flat">
      <a:solidFill>
        <a:srgbClr val="CBD5E1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65357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chart" Target="../charts/char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6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3.png"/><Relationship Id="rId4" Type="http://schemas.openxmlformats.org/officeDocument/2006/relationships/image" Target="../media/image11.png"/><Relationship Id="rId9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/>
          <p:nvPr/>
        </p:nvSpPr>
        <p:spPr>
          <a:xfrm>
            <a:off x="731520" y="731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6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BÜYÜK VERİ ANALİZİNE GİRİŞ  •  DÖNEM PROJESİ</a:t>
            </a:r>
            <a:endParaRPr lang="en-US" sz="1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1600"/>
            <a:ext cx="822960" cy="8229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22860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Ağ Saldırısı</a:t>
            </a:r>
            <a:endParaRPr lang="en-US" sz="5800" dirty="0"/>
          </a:p>
        </p:txBody>
      </p:sp>
      <p:sp>
        <p:nvSpPr>
          <p:cNvPr id="10" name="Text 7"/>
          <p:cNvSpPr/>
          <p:nvPr/>
        </p:nvSpPr>
        <p:spPr>
          <a:xfrm>
            <a:off x="731520" y="32004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Tespiti</a:t>
            </a:r>
            <a:r>
              <a:rPr lang="en-US" sz="58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</a:t>
            </a:r>
            <a:r>
              <a:rPr lang="en-US" sz="5800" b="1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Uçtan Uca Pipeline</a:t>
            </a:r>
            <a:endParaRPr lang="en-US" sz="5800" dirty="0"/>
          </a:p>
        </p:txBody>
      </p:sp>
      <p:sp>
        <p:nvSpPr>
          <p:cNvPr id="11" name="Text 8"/>
          <p:cNvSpPr/>
          <p:nvPr/>
        </p:nvSpPr>
        <p:spPr>
          <a:xfrm>
            <a:off x="731520" y="4480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 →  Spark Streaming  →  Delta Lake  →  ML  →  Dashboard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731520" y="5303520"/>
            <a:ext cx="2011680" cy="10058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53492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157K+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731520" y="58704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kern="0" spc="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Satırı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017520" y="5303520"/>
            <a:ext cx="2011680" cy="10058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017520" y="53492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3017520" y="58704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kern="0" spc="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Saldırı Tipi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303520" y="5303520"/>
            <a:ext cx="2011680" cy="10058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303520" y="53492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5303520" y="58704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kern="0" spc="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Mikroservis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589520" y="5303520"/>
            <a:ext cx="2011680" cy="10058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589520" y="53492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7589520" y="58704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kern="0" spc="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İçindekiler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486400" cy="9601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54480"/>
            <a:ext cx="73152" cy="9601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4592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1600200" y="16459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Tanımı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00200" y="20574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Saldırı tipleri &amp; veri seti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1554480"/>
            <a:ext cx="5486400" cy="9601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09360" y="1554480"/>
            <a:ext cx="73152" cy="9601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64592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7360920" y="16459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Altyapısı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60920" y="20574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mikroservis orkestrasyonu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697480"/>
            <a:ext cx="5486400" cy="9601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2697480"/>
            <a:ext cx="73152" cy="9601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278892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1600200" y="27889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Streaming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600200" y="32004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zamanlı veri akışı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09360" y="2697480"/>
            <a:ext cx="5486400" cy="9601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309360" y="2697480"/>
            <a:ext cx="73152" cy="9601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278892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800" dirty="0"/>
          </a:p>
        </p:txBody>
      </p:sp>
      <p:sp>
        <p:nvSpPr>
          <p:cNvPr id="23" name="Text 21"/>
          <p:cNvSpPr/>
          <p:nvPr/>
        </p:nvSpPr>
        <p:spPr>
          <a:xfrm>
            <a:off x="7360920" y="27889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+ Delta Lake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360920" y="32004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Medallion mimarisi (Bronze→Silver→Gold)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3840480"/>
            <a:ext cx="5486400" cy="9601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48640" y="3840480"/>
            <a:ext cx="73152" cy="9601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393192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3800" dirty="0"/>
          </a:p>
        </p:txBody>
      </p:sp>
      <p:sp>
        <p:nvSpPr>
          <p:cNvPr id="28" name="Text 26"/>
          <p:cNvSpPr/>
          <p:nvPr/>
        </p:nvSpPr>
        <p:spPr>
          <a:xfrm>
            <a:off x="1600200" y="39319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1600200" y="43434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Keşifsel veri analizi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309360" y="3840480"/>
            <a:ext cx="5486400" cy="9601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309360" y="3840480"/>
            <a:ext cx="73152" cy="9601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92240" y="393192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3800" dirty="0"/>
          </a:p>
        </p:txBody>
      </p:sp>
      <p:sp>
        <p:nvSpPr>
          <p:cNvPr id="33" name="Text 31"/>
          <p:cNvSpPr/>
          <p:nvPr/>
        </p:nvSpPr>
        <p:spPr>
          <a:xfrm>
            <a:off x="7360920" y="39319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7360920" y="43434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türetilmiş özellik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48640" y="4983480"/>
            <a:ext cx="5486400" cy="9601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48640" y="4983480"/>
            <a:ext cx="73152" cy="9601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7492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3800" dirty="0"/>
          </a:p>
        </p:txBody>
      </p:sp>
      <p:sp>
        <p:nvSpPr>
          <p:cNvPr id="38" name="Text 36"/>
          <p:cNvSpPr/>
          <p:nvPr/>
        </p:nvSpPr>
        <p:spPr>
          <a:xfrm>
            <a:off x="1600200" y="50749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Modelleri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1600200" y="54864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sınıflandırıcı + MLflow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309360" y="4983480"/>
            <a:ext cx="5486400" cy="9601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309360" y="4983480"/>
            <a:ext cx="73152" cy="9601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92240" y="507492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3800" dirty="0"/>
          </a:p>
        </p:txBody>
      </p:sp>
      <p:sp>
        <p:nvSpPr>
          <p:cNvPr id="43" name="Text 41"/>
          <p:cNvSpPr/>
          <p:nvPr/>
        </p:nvSpPr>
        <p:spPr>
          <a:xfrm>
            <a:off x="7360920" y="50749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7360920" y="54864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sayfalı canlı arayüz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Intrusion Detection  •  Büyük Veri Pipeline'ı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094415" y="65379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PROBLEM TANIMI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Neyi Tespit Ediyoruz?</a:t>
            </a:r>
            <a:endParaRPr lang="en-US" sz="30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916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691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Tehdit Manzarası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48640" y="214884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IoT/IIoT cihazlarının ağ trafiğinde </a:t>
            </a: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farklı saldırı tipi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tespit edilmelidir. Saldırı çeşitleri DDoS, MITM, Ransomware, SQL Injection, Port Scanning ve XSS gibi kritik tehditleri kapsar.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3657600"/>
            <a:ext cx="5760720" cy="2194560"/>
          </a:xfrm>
          <a:prstGeom prst="rect">
            <a:avLst/>
          </a:prstGeom>
          <a:solidFill>
            <a:srgbClr val="F1F5F9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3657600"/>
            <a:ext cx="73152" cy="219456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84048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80160" y="38221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AMAÇ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822960" y="429768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zamanlı veri akışından ML modeline kadar uçtan uca bir büyük veri pipeline'ı kurmak ve saldırıları yüksek doğrulukla tespit etmek.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766560" y="1691640"/>
            <a:ext cx="4846320" cy="41605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5160" y="1874520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589520" y="1874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SETİ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6995160" y="242316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Edge-IIoTset</a:t>
            </a:r>
            <a:endParaRPr lang="en-US" sz="2600" dirty="0"/>
          </a:p>
        </p:txBody>
      </p:sp>
      <p:sp>
        <p:nvSpPr>
          <p:cNvPr id="17" name="Text 12"/>
          <p:cNvSpPr/>
          <p:nvPr/>
        </p:nvSpPr>
        <p:spPr>
          <a:xfrm>
            <a:off x="6995160" y="29260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 •  Endüstriyel IoT trafiği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6995160" y="3383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~157.000</a:t>
            </a:r>
            <a:endParaRPr lang="en-US" sz="2200" dirty="0"/>
          </a:p>
        </p:txBody>
      </p:sp>
      <p:sp>
        <p:nvSpPr>
          <p:cNvPr id="19" name="Text 14"/>
          <p:cNvSpPr/>
          <p:nvPr/>
        </p:nvSpPr>
        <p:spPr>
          <a:xfrm>
            <a:off x="9052560" y="3429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Satır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995160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9052560" y="4206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Kolon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6995160" y="49377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</a:t>
            </a:r>
            <a:endParaRPr lang="en-US" sz="2200" dirty="0"/>
          </a:p>
        </p:txBody>
      </p:sp>
      <p:sp>
        <p:nvSpPr>
          <p:cNvPr id="23" name="Text 18"/>
          <p:cNvSpPr/>
          <p:nvPr/>
        </p:nvSpPr>
        <p:spPr>
          <a:xfrm>
            <a:off x="9052560" y="4983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Sınıflandırma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Intrusion Detection  •  Büyük Veri Pipeline'ı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11094415" y="65379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DOCKER ALTYAPISI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Mikroservis, Tek Komutla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331720" cy="12344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00200"/>
            <a:ext cx="233172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737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19842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Zookeeper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" y="240487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koordinasyonu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017520" y="1600200"/>
            <a:ext cx="2331720" cy="12344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017520" y="1600200"/>
            <a:ext cx="233172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54680" y="1737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154680" y="19842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Broker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154680" y="240487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streaming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0" y="1600200"/>
            <a:ext cx="2331720" cy="12344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0" y="1600200"/>
            <a:ext cx="233172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737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623560" y="19842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Producer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623560" y="240487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→ JSON yayını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2971800"/>
            <a:ext cx="2331720" cy="12344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2971800"/>
            <a:ext cx="233172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3108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85800" y="33558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Master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" y="377647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manager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017520" y="2971800"/>
            <a:ext cx="2331720" cy="12344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017520" y="2971800"/>
            <a:ext cx="233172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54680" y="3108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154680" y="33558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Worker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3154680" y="377647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executor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0" y="2971800"/>
            <a:ext cx="2331720" cy="12344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486400" y="2971800"/>
            <a:ext cx="233172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23560" y="3108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623560" y="33558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 Server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623560" y="377647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Deney takibi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48640" y="4343400"/>
            <a:ext cx="2331720" cy="12344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48640" y="4343400"/>
            <a:ext cx="233172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5800" y="4480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85800" y="47274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JupyterLab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85800" y="514807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ortamı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017520" y="4343400"/>
            <a:ext cx="2331720" cy="12344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3017520" y="4343400"/>
            <a:ext cx="233172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154680" y="4480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154680" y="47274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API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3154680" y="514807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+ SSE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486400" y="4343400"/>
            <a:ext cx="2331720" cy="12344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5486400" y="4343400"/>
            <a:ext cx="233172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23560" y="4480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23560" y="47274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5623560" y="514807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Görselleştirme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183880" y="1600200"/>
            <a:ext cx="3520440" cy="4023360"/>
          </a:xfrm>
          <a:prstGeom prst="rect">
            <a:avLst/>
          </a:prstGeom>
          <a:solidFill>
            <a:srgbClr val="F1F5F9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783080"/>
            <a:ext cx="502920" cy="502920"/>
          </a:xfrm>
          <a:prstGeom prst="rect">
            <a:avLst/>
          </a:prstGeom>
        </p:spPr>
      </p:pic>
      <p:sp>
        <p:nvSpPr>
          <p:cNvPr id="52" name="Text 49"/>
          <p:cNvSpPr/>
          <p:nvPr/>
        </p:nvSpPr>
        <p:spPr>
          <a:xfrm>
            <a:off x="9006840" y="17830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891B2"/>
                </a:solidFill>
              </a:rPr>
              <a:t>TEK KOMUT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8366760" y="2468880"/>
            <a:ext cx="3154680" cy="640080"/>
          </a:xfrm>
          <a:prstGeom prst="rect">
            <a:avLst/>
          </a:prstGeom>
          <a:solidFill>
            <a:srgbClr val="0F172A"/>
          </a:solidFill>
          <a:ln w="6350">
            <a:solidFill>
              <a:srgbClr val="0F172A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8366760" y="246888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-d</a:t>
            </a:r>
            <a:endParaRPr lang="en-US" sz="1400" dirty="0"/>
          </a:p>
        </p:txBody>
      </p:sp>
      <p:sp>
        <p:nvSpPr>
          <p:cNvPr id="55" name="Text 52"/>
          <p:cNvSpPr/>
          <p:nvPr/>
        </p:nvSpPr>
        <p:spPr>
          <a:xfrm>
            <a:off x="8366760" y="3291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Özel Dockerfile'lar</a:t>
            </a:r>
            <a:endParaRPr lang="en-US" sz="1100" dirty="0"/>
          </a:p>
        </p:txBody>
      </p:sp>
      <p:sp>
        <p:nvSpPr>
          <p:cNvPr id="56" name="Text 53"/>
          <p:cNvSpPr/>
          <p:nvPr/>
        </p:nvSpPr>
        <p:spPr>
          <a:xfrm>
            <a:off x="8366760" y="3611880"/>
            <a:ext cx="32004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Delta JAR + PySpark + MLflow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kafka-python entegrasyonu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Flask + Plotly + SSE</a:t>
            </a:r>
            <a:endParaRPr lang="en-US" sz="1100" dirty="0"/>
          </a:p>
        </p:txBody>
      </p:sp>
      <p:sp>
        <p:nvSpPr>
          <p:cNvPr id="57" name="Text 54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Intrusion Detection  •  Büyük Veri Pipeline'ı</a:t>
            </a:r>
            <a:endParaRPr lang="en-US" sz="900" dirty="0"/>
          </a:p>
        </p:txBody>
      </p:sp>
      <p:sp>
        <p:nvSpPr>
          <p:cNvPr id="58" name="Text 55"/>
          <p:cNvSpPr/>
          <p:nvPr/>
        </p:nvSpPr>
        <p:spPr>
          <a:xfrm>
            <a:off x="11094415" y="65379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VERI AKIŞI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Streaming Mimarisi</a:t>
            </a:r>
            <a:endParaRPr lang="en-US" sz="30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9164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594360" y="2441448"/>
            <a:ext cx="164592" cy="164592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23317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→ JSON dönüşümü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267919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satır mesajlaştırılır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94360" y="3218688"/>
            <a:ext cx="164592" cy="164592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31089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Zenginleştirme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68680" y="34564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timestamp, source_ip, attack_type, flow_id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94360" y="3995928"/>
            <a:ext cx="164592" cy="164592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" y="38862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Ayarlanabilir hız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68680" y="423367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--rate 100 parametresiyle akış kontrolü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94360" y="4773168"/>
            <a:ext cx="164592" cy="164592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68680" y="46634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mekanizması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68680" y="501091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Bağlantı kopmasında 30 deneme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48640" y="5577840"/>
            <a:ext cx="5852160" cy="59436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557784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554480" y="557784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iot-network-traffic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206240" y="557784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486400" y="557784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858000" y="1691640"/>
            <a:ext cx="4800600" cy="4480560"/>
          </a:xfrm>
          <a:prstGeom prst="rect">
            <a:avLst/>
          </a:prstGeom>
          <a:solidFill>
            <a:srgbClr val="F1F5F9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1828800"/>
            <a:ext cx="365760" cy="365760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589520" y="1828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891B2"/>
                </a:solidFill>
              </a:rPr>
              <a:t>MESAJ FORMATI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7086600" y="2331720"/>
            <a:ext cx="4343400" cy="3749040"/>
          </a:xfrm>
          <a:prstGeom prst="rect">
            <a:avLst/>
          </a:prstGeom>
          <a:solidFill>
            <a:srgbClr val="0F172A"/>
          </a:solidFill>
          <a:ln w="6350">
            <a:solidFill>
              <a:srgbClr val="0F172A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7269480" y="2468880"/>
            <a:ext cx="402336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"timestamp"</a:t>
            </a: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"2025-11-13T..."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"source_ip"</a:t>
            </a: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"192.168.0.14"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"attack_type"</a:t>
            </a:r>
            <a:r>
              <a:rPr lang="en-US" sz="13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"DDoS"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"tcp_srcport"</a:t>
            </a:r>
            <a:r>
              <a:rPr lang="en-US" sz="13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52341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"tcp_len"</a:t>
            </a:r>
            <a:r>
              <a:rPr lang="en-US" sz="13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1460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"flow_id"</a:t>
            </a: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"f-9b2c"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 </a:t>
            </a:r>
            <a:r>
              <a:rPr lang="en-US" sz="1300" i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(50+ alan)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Intrusion Detection  •  Büyük Veri Pipeline'ı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11094415" y="65379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SPARK STRUCTURED STREAMING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Medallion Architecture (3 Katman)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Veri, üç ardışık katmandan geçerek ham JSON'dan ML-hazır tabloya dönüşür.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749040" cy="384048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011680"/>
            <a:ext cx="3749040" cy="45720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6517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 Veri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22960" y="3291840"/>
            <a:ext cx="32004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474720"/>
            <a:ext cx="73152" cy="6400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429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 JSON saklama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37490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akış kayıt altına alınır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4251960"/>
            <a:ext cx="73152" cy="6400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42062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4526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Değiştirilemez audit log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22960" y="5029200"/>
            <a:ext cx="73152" cy="6400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49834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5303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Yıl / ay / gün bazlı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480560" y="2011680"/>
            <a:ext cx="3749040" cy="384048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480560" y="2011680"/>
            <a:ext cx="3749040" cy="45720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754880" y="26517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Temizlik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4754880" y="3291840"/>
            <a:ext cx="32004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54880" y="3474720"/>
            <a:ext cx="73152" cy="64008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0" y="3429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parse + şema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937760" y="37490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Tipler standardize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54880" y="4251960"/>
            <a:ext cx="73152" cy="64008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37760" y="42062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/ inf / dup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937760" y="4526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Anomaliler temizlenir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54880" y="5029200"/>
            <a:ext cx="73152" cy="64008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37760" y="49834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kolon çıkarılır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937760" y="5303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Gereksiz alanlar atılır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412480" y="2011680"/>
            <a:ext cx="3749040" cy="384048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412480" y="2011680"/>
            <a:ext cx="3749040" cy="457200"/>
          </a:xfrm>
          <a:prstGeom prst="rect">
            <a:avLst/>
          </a:prstGeom>
          <a:solidFill>
            <a:srgbClr val="CA8A04"/>
          </a:solidFill>
          <a:ln w="12700">
            <a:solidFill>
              <a:srgbClr val="CA8A0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686800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686800" y="26517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ML-Ready</a:t>
            </a:r>
            <a:endParaRPr lang="en-US" sz="2600" dirty="0"/>
          </a:p>
        </p:txBody>
      </p:sp>
      <p:sp>
        <p:nvSpPr>
          <p:cNvPr id="38" name="Shape 36"/>
          <p:cNvSpPr/>
          <p:nvPr/>
        </p:nvSpPr>
        <p:spPr>
          <a:xfrm>
            <a:off x="8686800" y="3291840"/>
            <a:ext cx="32004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686800" y="3474720"/>
            <a:ext cx="73152" cy="640080"/>
          </a:xfrm>
          <a:prstGeom prst="rect">
            <a:avLst/>
          </a:prstGeom>
          <a:solidFill>
            <a:srgbClr val="CA8A04"/>
          </a:solidFill>
          <a:ln w="12700">
            <a:solidFill>
              <a:srgbClr val="CA8A0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869680" y="3429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yeni özellik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8869680" y="37490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8686800" y="4251960"/>
            <a:ext cx="73152" cy="640080"/>
          </a:xfrm>
          <a:prstGeom prst="rect">
            <a:avLst/>
          </a:prstGeom>
          <a:solidFill>
            <a:srgbClr val="CA8A04"/>
          </a:solidFill>
          <a:ln w="12700">
            <a:solidFill>
              <a:srgbClr val="CA8A0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869680" y="42062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StringIndexer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869680" y="4526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Kategorik kodlama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8686800" y="5029200"/>
            <a:ext cx="73152" cy="640080"/>
          </a:xfrm>
          <a:prstGeom prst="rect">
            <a:avLst/>
          </a:prstGeom>
          <a:solidFill>
            <a:srgbClr val="CA8A04"/>
          </a:solidFill>
          <a:ln w="12700">
            <a:solidFill>
              <a:srgbClr val="CA8A0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869680" y="49834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ML-ready tablo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8869680" y="5303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Eğitime hazır veri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251960" y="36576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8183880" y="36576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50" name="Shape 48"/>
          <p:cNvSpPr/>
          <p:nvPr/>
        </p:nvSpPr>
        <p:spPr>
          <a:xfrm>
            <a:off x="548640" y="6035040"/>
            <a:ext cx="1115568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1520" y="60350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 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katmanlar Spark Structured Streaming ile  </a:t>
            </a:r>
            <a:r>
              <a:rPr lang="en-US" sz="110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trigger(processingTime="30 seconds")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aralığında güncellenir.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Intrusion Detection  •  Büyük Veri Pipeline'ı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1094415" y="65379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KEŞIFSEL VERI ANALIZI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ile İlk Tanışma</a:t>
            </a:r>
            <a:endParaRPr lang="en-US" sz="30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9164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Yapılan Analizler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5394960" cy="41148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286000"/>
            <a:ext cx="54864" cy="4114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28600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Sınıf dağılımı  •  15 saldırı tipi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788920"/>
            <a:ext cx="5394960" cy="41148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" y="2788920"/>
            <a:ext cx="54864" cy="4114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7240" y="27889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Eksik değer analizi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3291840"/>
            <a:ext cx="5394960" cy="41148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3291840"/>
            <a:ext cx="54864" cy="4114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7240" y="32918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Sayısal istatistikler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794760"/>
            <a:ext cx="5394960" cy="41148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8640" y="3794760"/>
            <a:ext cx="54864" cy="4114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77240" y="379476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Korelasyon ısı haritası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4297680"/>
            <a:ext cx="5394960" cy="41148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8640" y="4297680"/>
            <a:ext cx="54864" cy="4114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77240" y="429768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Zaman serisi trendi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48640" y="4800600"/>
            <a:ext cx="5394960" cy="41148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48640" y="4800600"/>
            <a:ext cx="54864" cy="4114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77240" y="480060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vs Saldırı karşılaştırması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6400800" y="16916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Temel Bulgular</a:t>
            </a:r>
            <a:endParaRPr lang="en-US" sz="2000" dirty="0"/>
          </a:p>
        </p:txBody>
      </p:sp>
      <p:graphicFrame>
        <p:nvGraphicFramePr>
          <p:cNvPr id="26" name="Chart 0"/>
          <p:cNvGraphicFramePr/>
          <p:nvPr/>
        </p:nvGraphicFramePr>
        <p:xfrm>
          <a:off x="6400800" y="2286000"/>
          <a:ext cx="530352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4873752"/>
            <a:ext cx="228600" cy="22860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6720840" y="480060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Sınıf dengesizliği: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DDoS_UDP ve DDoS_ICMP en yaygın</a:t>
            </a:r>
            <a:endParaRPr lang="en-US" sz="1200" dirty="0"/>
          </a:p>
        </p:txBody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5330952"/>
            <a:ext cx="228600" cy="228600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6720840" y="525780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Protokol kolonları: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Çoğunlukla 0 (beklenen davranış)</a:t>
            </a:r>
            <a:endParaRPr lang="en-US" sz="1200" dirty="0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5788152"/>
            <a:ext cx="228600" cy="22860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6720840" y="571500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alanları kritik: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Port, seq, ack en ayırt edici</a:t>
            </a:r>
            <a:endParaRPr lang="en-US" sz="1200" dirty="0"/>
          </a:p>
        </p:txBody>
      </p:sp>
      <p:sp>
        <p:nvSpPr>
          <p:cNvPr id="33" name="Text 26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Intrusion Detection  •  Büyük Veri Pipeline'ı</a:t>
            </a:r>
            <a:endParaRPr lang="en-US" sz="900" dirty="0"/>
          </a:p>
        </p:txBody>
      </p:sp>
      <p:sp>
        <p:nvSpPr>
          <p:cNvPr id="34" name="Text 27"/>
          <p:cNvSpPr/>
          <p:nvPr/>
        </p:nvSpPr>
        <p:spPr>
          <a:xfrm>
            <a:off x="11094415" y="65379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FEATURE ENGINEERING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Türetilmiş Özellik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155680" cy="274320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kern="0" spc="200" dirty="0">
                          <a:solidFill>
                            <a:srgbClr val="0891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kern="0" spc="200" dirty="0">
                          <a:solidFill>
                            <a:srgbClr val="0891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ÖZELLİK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kern="0" spc="200" dirty="0">
                          <a:solidFill>
                            <a:srgbClr val="0891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FORMÜL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kern="0" spc="200" dirty="0">
                          <a:solidFill>
                            <a:srgbClr val="0891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HEDEF SALDIRI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traffic_asymmetry_ratio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596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tcp_ack / (tcp_seq + 1)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DDoS Flood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pkt_size_cv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596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|len − payload| / (len + 1)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 Scan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flow_intensity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596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len / (time + ε)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DDoS, Brute-Force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iat_regularity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596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std(IAT) / (mean + ε)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Botnet, MITM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conn_efficiency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596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payload / (len + 1)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Reconnaissance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074920"/>
            <a:ext cx="11155680" cy="1097280"/>
          </a:xfrm>
          <a:prstGeom prst="rect">
            <a:avLst/>
          </a:prstGeom>
          <a:solidFill>
            <a:srgbClr val="F1F5F9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5074920"/>
            <a:ext cx="73152" cy="10972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257800"/>
            <a:ext cx="365760" cy="365760"/>
          </a:xfrm>
          <a:prstGeom prst="rect">
            <a:avLst/>
          </a:prstGeom>
        </p:spPr>
      </p:pic>
      <p:sp>
        <p:nvSpPr>
          <p:cNvPr id="5" name="Text 5"/>
          <p:cNvSpPr/>
          <p:nvPr/>
        </p:nvSpPr>
        <p:spPr>
          <a:xfrm>
            <a:off x="1234440" y="5212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891B2"/>
                </a:solidFill>
              </a:rPr>
              <a:t>NEDEN BU 5 ÖZELLİK?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777240" y="553212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biri farklı bir saldırı vektörünü hedefler. Normal trafiğin istatistiksel özelliklerinden sapmaları yakalayacak şekilde tasarlanmıştır. Tüm özellikler NaN/Inf kontrolü içerir.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Intrusion Detection  •  Büyük Veri Pipeline'ı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94415" y="65379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MAKINE ÖĞRENMESI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Sınıflandırma Modeli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804672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691640"/>
            <a:ext cx="548640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691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06240" y="16916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regParam, maxIter, elasticNet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040880" y="16916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Hızlı, yorumlanabilir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331720"/>
            <a:ext cx="8046720" cy="54864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331720"/>
            <a:ext cx="548640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280160" y="23317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206240" y="23317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maxDepth, maxBins, minInfo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40880" y="23317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Şeffaf karar ağacı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2971800"/>
            <a:ext cx="804672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2971800"/>
            <a:ext cx="548640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280160" y="29718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206240" y="29718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numTrees, maxDepth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040880" y="29718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Düşük overfitting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3611880"/>
            <a:ext cx="8046720" cy="54864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611880"/>
            <a:ext cx="548640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280160" y="36118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206240" y="36118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numIter, maxDepth, stepSize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40880" y="361188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güçlü aday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251960"/>
            <a:ext cx="804672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251960"/>
            <a:ext cx="548640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4251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280160" y="4251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Bayes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206240" y="42519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smoothing + MinMaxScaler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040880" y="425196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Hızlı baseline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869680" y="1691640"/>
            <a:ext cx="2834640" cy="4023360"/>
          </a:xfrm>
          <a:prstGeom prst="rect">
            <a:avLst/>
          </a:prstGeom>
          <a:solidFill>
            <a:srgbClr val="F1F5F9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3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828800"/>
            <a:ext cx="365760" cy="365760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9509760" y="1828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891B2"/>
                </a:solidFill>
              </a:rPr>
              <a:t>EĞİTİM SETUP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052560" y="2423160"/>
            <a:ext cx="246888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052560" y="25603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CrossValidator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052560" y="2834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Hiperparametre opt.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9052560" y="3200400"/>
            <a:ext cx="246888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9052560" y="3337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Split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9052560" y="36118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%80 / %20 train-test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9052560" y="3977640"/>
            <a:ext cx="246888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9052560" y="4114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classWeight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9052560" y="43891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Dengesizlik çözümü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9052560" y="4754880"/>
            <a:ext cx="246888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052560" y="48920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9052560" y="51663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deneyler loglanır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548640" y="58978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Tree-based modeller (Random Forest, GBT) saldırı tespitinde özellikle güçlüdür — dengesiz sınıflarla baş edebilir ve feature importance üretirler.</a:t>
            </a:r>
            <a:endParaRPr lang="en-US" sz="1200" dirty="0"/>
          </a:p>
        </p:txBody>
      </p:sp>
      <p:sp>
        <p:nvSpPr>
          <p:cNvPr id="51" name="Text 48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Intrusion Detection  •  Büyük Veri Pipeline'ı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11094415" y="65379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MAKINE ÖĞRENMESI (DEVAM)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Değerlendirme &amp; MLflow Takibi</a:t>
            </a:r>
            <a:endParaRPr lang="en-US" sz="30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9164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Kullanılan Metrikler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2651760" cy="713232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240487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7157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Sınıflar arası ayırt etme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337560" y="2331720"/>
            <a:ext cx="2651760" cy="713232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520440" y="240487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520440" y="27157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doğruluk oranı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48640" y="3154680"/>
            <a:ext cx="2651760" cy="713232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31520" y="322783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31520" y="35387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Precision-recall dengesi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337560" y="3154680"/>
            <a:ext cx="2651760" cy="713232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520440" y="322783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520440" y="35387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Yanlış pozitif kontrolü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3977640"/>
            <a:ext cx="2651760" cy="713232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405079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31520" y="436168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Saldırı yakalama oranı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337560" y="3977640"/>
            <a:ext cx="2651760" cy="713232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520440" y="405079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M.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3520440" y="436168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I / Tip II hata analizi</a:t>
            </a:r>
            <a:endParaRPr lang="en-US" sz="1000" dirty="0"/>
          </a:p>
        </p:txBody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691640"/>
            <a:ext cx="411480" cy="411480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694944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MLflow'a Loglanan</a:t>
            </a:r>
            <a:endParaRPr lang="en-US" sz="2000" dirty="0"/>
          </a:p>
        </p:txBody>
      </p:sp>
      <p:sp>
        <p:nvSpPr>
          <p:cNvPr id="27" name="Shape 23"/>
          <p:cNvSpPr/>
          <p:nvPr/>
        </p:nvSpPr>
        <p:spPr>
          <a:xfrm>
            <a:off x="6400800" y="2331720"/>
            <a:ext cx="5212080" cy="38404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400800" y="2331720"/>
            <a:ext cx="54864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6629400" y="23317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parametreler &amp; metrikler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6400800" y="2788920"/>
            <a:ext cx="5212080" cy="38404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400800" y="2788920"/>
            <a:ext cx="54864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629400" y="27889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model artifact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6400800" y="3246120"/>
            <a:ext cx="5212080" cy="38404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400800" y="3246120"/>
            <a:ext cx="54864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629400" y="32461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 CSV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6400800" y="3703320"/>
            <a:ext cx="5212080" cy="38404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6400800" y="3703320"/>
            <a:ext cx="54864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6629400" y="37033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 değerleri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6400800" y="4160520"/>
            <a:ext cx="5212080" cy="38404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6400800" y="4160520"/>
            <a:ext cx="54864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6629400" y="41605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tag'leri ve versiyon</a:t>
            </a:r>
            <a:endParaRPr lang="en-US" sz="1200" dirty="0"/>
          </a:p>
        </p:txBody>
      </p:sp>
      <p:sp>
        <p:nvSpPr>
          <p:cNvPr id="42" name="Shape 38"/>
          <p:cNvSpPr/>
          <p:nvPr/>
        </p:nvSpPr>
        <p:spPr>
          <a:xfrm>
            <a:off x="548640" y="5074920"/>
            <a:ext cx="11155680" cy="1188720"/>
          </a:xfrm>
          <a:prstGeom prst="rect">
            <a:avLst/>
          </a:prstGeom>
          <a:solidFill>
            <a:srgbClr val="F1F5F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074920"/>
            <a:ext cx="73152" cy="1188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4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257800"/>
            <a:ext cx="411480" cy="411480"/>
          </a:xfrm>
          <a:prstGeom prst="rect">
            <a:avLst/>
          </a:prstGeom>
        </p:spPr>
      </p:pic>
      <p:sp>
        <p:nvSpPr>
          <p:cNvPr id="45" name="Text 40"/>
          <p:cNvSpPr/>
          <p:nvPr/>
        </p:nvSpPr>
        <p:spPr>
          <a:xfrm>
            <a:off x="1280160" y="52120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59669"/>
                </a:solidFill>
              </a:rPr>
              <a:t>FEATURE ENGINEERING'İN SOMUT KATKISI</a:t>
            </a:r>
            <a:endParaRPr lang="en-US" sz="1200" dirty="0"/>
          </a:p>
        </p:txBody>
      </p:sp>
      <p:sp>
        <p:nvSpPr>
          <p:cNvPr id="46" name="Text 41"/>
          <p:cNvSpPr/>
          <p:nvPr/>
        </p:nvSpPr>
        <p:spPr>
          <a:xfrm>
            <a:off x="777240" y="557784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Türettiğimiz 5 özellik, modellerin feature importance sıralamasında üst sıralarda yer almıştır. Bu, manuel feature engineering çalışmasının ham veri üzerinde yarattığı katma değeri kanıtlar.</a:t>
            </a:r>
            <a:endParaRPr lang="en-US" sz="1250" dirty="0"/>
          </a:p>
        </p:txBody>
      </p:sp>
      <p:sp>
        <p:nvSpPr>
          <p:cNvPr id="47" name="Text 42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Intrusion Detection  •  Büyük Veri Pipeline'ı</a:t>
            </a:r>
            <a:endParaRPr lang="en-US" sz="900" dirty="0"/>
          </a:p>
        </p:txBody>
      </p:sp>
      <p:sp>
        <p:nvSpPr>
          <p:cNvPr id="48" name="Text 43"/>
          <p:cNvSpPr/>
          <p:nvPr/>
        </p:nvSpPr>
        <p:spPr>
          <a:xfrm>
            <a:off x="11094415" y="65379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REFERANS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Kullanılan Teknolojiler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1600" y="1691640"/>
            <a:ext cx="941832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82880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65960" y="16916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Akışı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846320" y="16916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Kafka  •  kafka-python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371600" y="2331720"/>
            <a:ext cx="9418320" cy="54864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246888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965960" y="23317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İşleme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4846320" y="233172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Spark 3.x  •  PySpark MLlib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1371600" y="2971800"/>
            <a:ext cx="941832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4480" y="310896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965960" y="29718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Depolama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4846320" y="297180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Lake (Medallion Architecture)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1371600" y="3611880"/>
            <a:ext cx="9418320" cy="54864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54480" y="374904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965960" y="36118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Takip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4846320" y="36118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 2.x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1371600" y="4251960"/>
            <a:ext cx="941832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54480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965960" y="42519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Görselleştirme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4846320" y="425196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 •  Plotly  •  Matplotlib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1371600" y="4892040"/>
            <a:ext cx="9418320" cy="548640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54480" y="5029200"/>
            <a:ext cx="274320" cy="27432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965960" y="48920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Altyapı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4846320" y="48920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 •  Docker Compose</a:t>
            </a:r>
            <a:endParaRPr lang="en-US" sz="1300" dirty="0"/>
          </a:p>
        </p:txBody>
      </p:sp>
      <p:sp>
        <p:nvSpPr>
          <p:cNvPr id="29" name="Shape 21"/>
          <p:cNvSpPr/>
          <p:nvPr/>
        </p:nvSpPr>
        <p:spPr>
          <a:xfrm>
            <a:off x="1371600" y="5532120"/>
            <a:ext cx="941832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54480" y="5669280"/>
            <a:ext cx="274320" cy="274320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1965960" y="5532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Seti</a:t>
            </a:r>
            <a:endParaRPr lang="en-US" sz="1300" dirty="0"/>
          </a:p>
        </p:txBody>
      </p:sp>
      <p:sp>
        <p:nvSpPr>
          <p:cNvPr id="32" name="Text 23"/>
          <p:cNvSpPr/>
          <p:nvPr/>
        </p:nvSpPr>
        <p:spPr>
          <a:xfrm>
            <a:off x="4846320" y="553212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Edge-IIoTset (Kaggle)</a:t>
            </a:r>
            <a:endParaRPr lang="en-US" sz="1300" dirty="0"/>
          </a:p>
        </p:txBody>
      </p:sp>
      <p:sp>
        <p:nvSpPr>
          <p:cNvPr id="33" name="Text 24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Intrusion Detection  •  Büyük Veri Pipeline'ı</a:t>
            </a:r>
            <a:endParaRPr lang="en-US" sz="900" dirty="0"/>
          </a:p>
        </p:txBody>
      </p:sp>
      <p:sp>
        <p:nvSpPr>
          <p:cNvPr id="34" name="Text 25"/>
          <p:cNvSpPr/>
          <p:nvPr/>
        </p:nvSpPr>
        <p:spPr>
          <a:xfrm>
            <a:off x="11094415" y="65379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7208" y="1371600"/>
            <a:ext cx="1097280" cy="1097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2743200"/>
            <a:ext cx="112772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Teşekkürler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457200" y="402336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Sorularınız?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828800" y="5120640"/>
            <a:ext cx="3931920" cy="9144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828800" y="52120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0891B2"/>
                </a:solidFill>
              </a:rPr>
              <a:t>MLflow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828800" y="55321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http://localhost:5000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400800" y="5120640"/>
            <a:ext cx="3931920" cy="9144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0" y="52120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0891B2"/>
                </a:solidFill>
              </a:rPr>
              <a:t>Dashboard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0" y="55321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http://localhost:8501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67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1F489AF-899E-4FF5-BD2A-13CC8C0576A2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fd1b77b6-394f-47de-8098-8b54a8c7e39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1029</Words>
  <Application>Microsoft Office PowerPoint</Application>
  <PresentationFormat>Widescreen</PresentationFormat>
  <Paragraphs>294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 Ağ Saldırısı Tespiti</dc:title>
  <dc:subject>PptxGenJS Presentation</dc:subject>
  <dc:creator>Taylan</dc:creator>
  <cp:lastModifiedBy>Yunus hanifi Öztürk</cp:lastModifiedBy>
  <cp:revision>3</cp:revision>
  <dcterms:created xsi:type="dcterms:W3CDTF">2026-05-13T10:17:42Z</dcterms:created>
  <dcterms:modified xsi:type="dcterms:W3CDTF">2026-05-13T13:30:06Z</dcterms:modified>
</cp:coreProperties>
</file>